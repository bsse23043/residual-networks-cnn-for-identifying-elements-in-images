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เอฟซี แคนดี้" charset="1" panose="020B0500040200020003"/>
      <p:regular r:id="rId17"/>
    </p:embeddedFont>
    <p:embeddedFont>
      <p:font typeface="เอฟซี ฟรายเดย์" charset="1" panose="020B0500040200020003"/>
      <p:regular r:id="rId18"/>
    </p:embeddedFont>
    <p:embeddedFont>
      <p:font typeface="Arimo Bold" charset="1" panose="020B0704020202020204"/>
      <p:regular r:id="rId19"/>
    </p:embeddedFont>
    <p:embeddedFont>
      <p:font typeface="เอฟซี ฟรายเดย์ Bold" charset="1" panose="020B05000402000200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29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30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31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32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7.png" Type="http://schemas.openxmlformats.org/officeDocument/2006/relationships/image"/><Relationship Id="rId17" Target="../media/image8.svg" Type="http://schemas.openxmlformats.org/officeDocument/2006/relationships/image"/><Relationship Id="rId18" Target="../media/image9.png" Type="http://schemas.openxmlformats.org/officeDocument/2006/relationships/image"/><Relationship Id="rId19" Target="../media/image10.svg" Type="http://schemas.openxmlformats.org/officeDocument/2006/relationships/image"/><Relationship Id="rId2" Target="../media/image1.png" Type="http://schemas.openxmlformats.org/officeDocument/2006/relationships/image"/><Relationship Id="rId20" Target="../media/image11.png" Type="http://schemas.openxmlformats.org/officeDocument/2006/relationships/image"/><Relationship Id="rId21" Target="../media/image12.svg" Type="http://schemas.openxmlformats.org/officeDocument/2006/relationships/image"/><Relationship Id="rId22" Target="../media/image14.png" Type="http://schemas.openxmlformats.org/officeDocument/2006/relationships/image"/><Relationship Id="rId23" Target="../media/image15.svg" Type="http://schemas.openxmlformats.org/officeDocument/2006/relationships/image"/><Relationship Id="rId24" Target="../media/image16.png" Type="http://schemas.openxmlformats.org/officeDocument/2006/relationships/image"/><Relationship Id="rId25" Target="../media/image17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672286" y="-4911307"/>
            <a:ext cx="12943428" cy="19719904"/>
          </a:xfrm>
          <a:custGeom>
            <a:avLst/>
            <a:gdLst/>
            <a:ahLst/>
            <a:cxnLst/>
            <a:rect r="r" b="b" t="t" l="l"/>
            <a:pathLst>
              <a:path h="19719904" w="12943428">
                <a:moveTo>
                  <a:pt x="0" y="0"/>
                </a:moveTo>
                <a:lnTo>
                  <a:pt x="12943428" y="0"/>
                </a:lnTo>
                <a:lnTo>
                  <a:pt x="12943428" y="19719904"/>
                </a:lnTo>
                <a:lnTo>
                  <a:pt x="0" y="19719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99503" y="2180067"/>
            <a:ext cx="12862531" cy="6431503"/>
            <a:chOff x="0" y="0"/>
            <a:chExt cx="3387662" cy="16938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7662" cy="1693894"/>
            </a:xfrm>
            <a:custGeom>
              <a:avLst/>
              <a:gdLst/>
              <a:ahLst/>
              <a:cxnLst/>
              <a:rect r="r" b="b" t="t" l="l"/>
              <a:pathLst>
                <a:path h="1693894" w="3387662">
                  <a:moveTo>
                    <a:pt x="0" y="0"/>
                  </a:moveTo>
                  <a:lnTo>
                    <a:pt x="3387662" y="0"/>
                  </a:lnTo>
                  <a:lnTo>
                    <a:pt x="3387662" y="1693894"/>
                  </a:lnTo>
                  <a:lnTo>
                    <a:pt x="0" y="16938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387662" cy="1741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803284">
            <a:off x="15751225" y="7951694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581405">
            <a:off x="15536892" y="-1615299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0433" y="1675430"/>
            <a:ext cx="12801600" cy="6936140"/>
          </a:xfrm>
          <a:custGeom>
            <a:avLst/>
            <a:gdLst/>
            <a:ahLst/>
            <a:cxnLst/>
            <a:rect r="r" b="b" t="t" l="l"/>
            <a:pathLst>
              <a:path h="6936140" w="12801600">
                <a:moveTo>
                  <a:pt x="0" y="0"/>
                </a:moveTo>
                <a:lnTo>
                  <a:pt x="12801600" y="0"/>
                </a:lnTo>
                <a:lnTo>
                  <a:pt x="12801600" y="6936140"/>
                </a:lnTo>
                <a:lnTo>
                  <a:pt x="0" y="693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71104">
            <a:off x="11564098" y="1005057"/>
            <a:ext cx="2877205" cy="2055894"/>
          </a:xfrm>
          <a:custGeom>
            <a:avLst/>
            <a:gdLst/>
            <a:ahLst/>
            <a:cxnLst/>
            <a:rect r="r" b="b" t="t" l="l"/>
            <a:pathLst>
              <a:path h="2055894" w="2877205">
                <a:moveTo>
                  <a:pt x="0" y="0"/>
                </a:moveTo>
                <a:lnTo>
                  <a:pt x="2877205" y="0"/>
                </a:lnTo>
                <a:lnTo>
                  <a:pt x="2877205" y="2055894"/>
                </a:lnTo>
                <a:lnTo>
                  <a:pt x="0" y="2055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571104">
            <a:off x="11689891" y="1022714"/>
            <a:ext cx="2625618" cy="1876124"/>
          </a:xfrm>
          <a:custGeom>
            <a:avLst/>
            <a:gdLst/>
            <a:ahLst/>
            <a:cxnLst/>
            <a:rect r="r" b="b" t="t" l="l"/>
            <a:pathLst>
              <a:path h="1876124" w="2625618">
                <a:moveTo>
                  <a:pt x="0" y="0"/>
                </a:moveTo>
                <a:lnTo>
                  <a:pt x="2625619" y="0"/>
                </a:lnTo>
                <a:lnTo>
                  <a:pt x="2625619" y="1876123"/>
                </a:lnTo>
                <a:lnTo>
                  <a:pt x="0" y="18761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67253" y="3556701"/>
            <a:ext cx="9512606" cy="2837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6179">
                <a:solidFill>
                  <a:srgbClr val="D8CDA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Optimizing CIFAR-10 Classification: Residual Networks, Data Augmentation, and Regularization Techniques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394153">
            <a:off x="5021036" y="1579504"/>
            <a:ext cx="4605039" cy="854025"/>
          </a:xfrm>
          <a:custGeom>
            <a:avLst/>
            <a:gdLst/>
            <a:ahLst/>
            <a:cxnLst/>
            <a:rect r="r" b="b" t="t" l="l"/>
            <a:pathLst>
              <a:path h="854025" w="4605039">
                <a:moveTo>
                  <a:pt x="0" y="0"/>
                </a:moveTo>
                <a:lnTo>
                  <a:pt x="4605039" y="0"/>
                </a:lnTo>
                <a:lnTo>
                  <a:pt x="4605039" y="854026"/>
                </a:lnTo>
                <a:lnTo>
                  <a:pt x="0" y="8540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4833887">
            <a:off x="11650263" y="2000100"/>
            <a:ext cx="951994" cy="1029182"/>
          </a:xfrm>
          <a:custGeom>
            <a:avLst/>
            <a:gdLst/>
            <a:ahLst/>
            <a:cxnLst/>
            <a:rect r="r" b="b" t="t" l="l"/>
            <a:pathLst>
              <a:path h="1029182" w="951994">
                <a:moveTo>
                  <a:pt x="0" y="0"/>
                </a:moveTo>
                <a:lnTo>
                  <a:pt x="951994" y="0"/>
                </a:lnTo>
                <a:lnTo>
                  <a:pt x="951994" y="1029182"/>
                </a:lnTo>
                <a:lnTo>
                  <a:pt x="0" y="10291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8996715">
            <a:off x="-1818602" y="-1615299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55171" y="6365515"/>
            <a:ext cx="2263799" cy="2588134"/>
          </a:xfrm>
          <a:custGeom>
            <a:avLst/>
            <a:gdLst/>
            <a:ahLst/>
            <a:cxnLst/>
            <a:rect r="r" b="b" t="t" l="l"/>
            <a:pathLst>
              <a:path h="2588134" w="2263799">
                <a:moveTo>
                  <a:pt x="0" y="0"/>
                </a:moveTo>
                <a:lnTo>
                  <a:pt x="2263800" y="0"/>
                </a:lnTo>
                <a:lnTo>
                  <a:pt x="2263800" y="2588134"/>
                </a:lnTo>
                <a:lnTo>
                  <a:pt x="0" y="25881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485647" y="6365515"/>
            <a:ext cx="2133323" cy="2438964"/>
          </a:xfrm>
          <a:custGeom>
            <a:avLst/>
            <a:gdLst/>
            <a:ahLst/>
            <a:cxnLst/>
            <a:rect r="r" b="b" t="t" l="l"/>
            <a:pathLst>
              <a:path h="2438964" w="2133323">
                <a:moveTo>
                  <a:pt x="0" y="0"/>
                </a:moveTo>
                <a:lnTo>
                  <a:pt x="2133324" y="0"/>
                </a:lnTo>
                <a:lnTo>
                  <a:pt x="2133324" y="2438964"/>
                </a:lnTo>
                <a:lnTo>
                  <a:pt x="0" y="243896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4162033" y="2694142"/>
            <a:ext cx="3903992" cy="5246370"/>
            <a:chOff x="0" y="0"/>
            <a:chExt cx="3663950" cy="49237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19"/>
              <a:stretch>
                <a:fillRect l="0" t="-15865" r="0" b="-15865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7B5344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7356106" y="1965021"/>
            <a:ext cx="3575789" cy="6356958"/>
          </a:xfrm>
          <a:custGeom>
            <a:avLst/>
            <a:gdLst/>
            <a:ahLst/>
            <a:cxnLst/>
            <a:rect r="r" b="b" t="t" l="l"/>
            <a:pathLst>
              <a:path h="6356958" w="3575789">
                <a:moveTo>
                  <a:pt x="0" y="0"/>
                </a:moveTo>
                <a:lnTo>
                  <a:pt x="3575788" y="0"/>
                </a:lnTo>
                <a:lnTo>
                  <a:pt x="357578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020022" y="6564294"/>
            <a:ext cx="6607067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AI Project Group 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18971" y="2529778"/>
            <a:ext cx="4930308" cy="96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1"/>
              </a:lnSpc>
            </a:pPr>
            <a:r>
              <a:rPr lang="en-US" sz="5572">
                <a:solidFill>
                  <a:srgbClr val="FAF8F4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Group Members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08863" y="3686264"/>
            <a:ext cx="4257162" cy="10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7B5344"/>
                </a:solidFill>
                <a:latin typeface="Arimo Bold"/>
                <a:ea typeface="Arimo Bold"/>
                <a:cs typeface="Arimo Bold"/>
                <a:sym typeface="Arimo Bold"/>
              </a:rPr>
              <a:t>Tooba Batool - bsse23067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99242" y="4862920"/>
            <a:ext cx="3476404" cy="1128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1"/>
              </a:lnSpc>
              <a:spcBef>
                <a:spcPct val="0"/>
              </a:spcBef>
            </a:pPr>
            <a:r>
              <a:rPr lang="en-US" b="true" sz="3194">
                <a:solidFill>
                  <a:srgbClr val="7B5344"/>
                </a:solidFill>
                <a:latin typeface="Arimo Bold"/>
                <a:ea typeface="Arimo Bold"/>
                <a:cs typeface="Arimo Bold"/>
                <a:sym typeface="Arimo Bold"/>
              </a:rPr>
              <a:t>Manal Rana- bsse23099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82896" y="6181964"/>
            <a:ext cx="4283129" cy="108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7B5344"/>
                </a:solidFill>
                <a:latin typeface="Arimo Bold"/>
                <a:ea typeface="Arimo Bold"/>
                <a:cs typeface="Arimo Bold"/>
                <a:sym typeface="Arimo Bold"/>
              </a:rPr>
              <a:t>Umar Younas-bsse23043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9044" y="1457165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Goal &amp; Motivation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469450" y="3588667"/>
            <a:ext cx="15349099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Goal: To build a robust CNN model for CIFAR-10 image classification by exploring the Regularization and Data Augmentation paths.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9450" y="5130691"/>
            <a:ext cx="15349099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Motivation: Solve the "Vanishing Gradient" problem using Residual Connections.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7B5344"/>
                </a:solidFill>
                <a:latin typeface="เอฟซี ฟรายเดย์"/>
                <a:ea typeface="เอฟซี ฟรายเดย์"/>
                <a:cs typeface="เอฟซี ฟรายเดย์"/>
                <a:sym typeface="เอฟซี ฟรายเดย์"/>
              </a:rPr>
              <a:t>Compare how smart Weight Decay ( Regularization )vs. synthetic data variety (Augmentation) impacts performance in a fixed training window.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987422" y="2293269"/>
            <a:ext cx="12908823" cy="7516278"/>
          </a:xfrm>
          <a:custGeom>
            <a:avLst/>
            <a:gdLst/>
            <a:ahLst/>
            <a:cxnLst/>
            <a:rect r="r" b="b" t="t" l="l"/>
            <a:pathLst>
              <a:path h="7516278" w="12908823">
                <a:moveTo>
                  <a:pt x="0" y="0"/>
                </a:moveTo>
                <a:lnTo>
                  <a:pt x="12908823" y="0"/>
                </a:lnTo>
                <a:lnTo>
                  <a:pt x="12908823" y="7516278"/>
                </a:lnTo>
                <a:lnTo>
                  <a:pt x="0" y="751627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895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91755" y="416098"/>
            <a:ext cx="13504490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Model Architecture Diagram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034575" y="-3687275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399" y="0"/>
                </a:lnTo>
                <a:lnTo>
                  <a:pt x="11592399" y="17661550"/>
                </a:lnTo>
                <a:lnTo>
                  <a:pt x="0" y="17661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3319044" y="152897"/>
            <a:ext cx="11649912" cy="222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Experiment 1: Regularization Path (Weight Decay)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8786" y="2655374"/>
            <a:ext cx="14795239" cy="2012950"/>
            <a:chOff x="0" y="0"/>
            <a:chExt cx="19726986" cy="268393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83226" y="100738"/>
              <a:ext cx="1040472" cy="1040472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48C7E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040472" cy="1040472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DDC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669060" y="-85725"/>
              <a:ext cx="18057925" cy="2769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599"/>
                </a:lnSpc>
              </a:pPr>
              <a:r>
                <a:rPr lang="en-US" sz="3999" b="true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Description:</a:t>
              </a: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 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I</a:t>
              </a: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mpl</a:t>
              </a: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ementation of structural and weight-based penalties to enhance model generalization.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8786" y="4668324"/>
            <a:ext cx="14679609" cy="1308100"/>
            <a:chOff x="0" y="0"/>
            <a:chExt cx="19572812" cy="174413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1514887" y="-85725"/>
              <a:ext cx="18057925" cy="182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599"/>
                </a:lnSpc>
              </a:pPr>
              <a:r>
                <a:rPr lang="en-US" sz="3999" b="true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The Strategy: 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L2 Weight Decay (1 X 10^-4) to control model complexity. 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83226" y="301494"/>
              <a:ext cx="1040472" cy="1040472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48C7E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200756"/>
              <a:ext cx="1040472" cy="1040472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DDC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1548786" y="6681274"/>
            <a:ext cx="14679609" cy="3422650"/>
            <a:chOff x="0" y="0"/>
            <a:chExt cx="19572812" cy="456353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1514887" y="-85725"/>
              <a:ext cx="18057925" cy="4649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599"/>
                </a:lnSpc>
              </a:pPr>
              <a:r>
                <a:rPr lang="en-US" sz="3999" b="true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Results:</a:t>
              </a:r>
            </a:p>
            <a:p>
              <a:pPr algn="just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Peak Accuracy: </a:t>
              </a: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62.26% (at 5 epochs).</a:t>
              </a:r>
            </a:p>
            <a:p>
              <a:pPr algn="just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Insight: </a:t>
              </a: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Regularization effectively prevented overfitting, ensuring the model learned generalized patterns rather than memorizing specific training noise.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83226" y="301494"/>
              <a:ext cx="1040472" cy="1040472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48C7E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200756"/>
              <a:ext cx="1040472" cy="1040472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DDC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3319044" y="607114"/>
            <a:ext cx="11649912" cy="222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Experiment 2: Data Augmentation Path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04195" y="2882940"/>
            <a:ext cx="14882454" cy="1264285"/>
            <a:chOff x="0" y="0"/>
            <a:chExt cx="19843271" cy="168571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83226" y="301494"/>
              <a:ext cx="1040472" cy="1040472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48C7E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200756"/>
              <a:ext cx="1040472" cy="1040472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DDC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514887" y="-85725"/>
              <a:ext cx="18328385" cy="17714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true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Description:</a:t>
              </a: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 </a:t>
              </a:r>
            </a:p>
            <a:p>
              <a:pPr algn="l">
                <a:lnSpc>
                  <a:spcPts val="5180"/>
                </a:lnSpc>
              </a:pPr>
              <a:r>
                <a:rPr lang="en-US" sz="37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Impl</a:t>
              </a:r>
              <a:r>
                <a:rPr lang="en-US" sz="37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emented RandomHorizontalFlip during training.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04195" y="4804450"/>
            <a:ext cx="14679609" cy="2012950"/>
            <a:chOff x="0" y="0"/>
            <a:chExt cx="19572812" cy="268393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1514887" y="-85725"/>
              <a:ext cx="18057925" cy="2769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true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Rationale:</a:t>
              </a: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 </a:t>
              </a:r>
            </a:p>
            <a:p>
              <a:pPr algn="l">
                <a:lnSpc>
                  <a:spcPts val="5599"/>
                </a:lnSpc>
              </a:pP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To prevent overfitting by forcing the model to recognize objects regardless of their orientation or slight shifts.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83226" y="301494"/>
              <a:ext cx="1040472" cy="1040472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48C7E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200756"/>
              <a:ext cx="1040472" cy="1040472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DDC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1804195" y="6864350"/>
            <a:ext cx="14679609" cy="3422650"/>
            <a:chOff x="0" y="0"/>
            <a:chExt cx="19572812" cy="456353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1514887" y="-85725"/>
              <a:ext cx="18057925" cy="4649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599"/>
                </a:lnSpc>
              </a:pPr>
              <a:r>
                <a:rPr lang="en-US" sz="3999" b="true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Results:</a:t>
              </a:r>
            </a:p>
            <a:p>
              <a:pPr algn="l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Final Accuracy: 63</a:t>
              </a: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.81%.</a:t>
              </a:r>
            </a:p>
            <a:p>
              <a:pPr algn="just" marL="863599" indent="-431800" lvl="1">
                <a:lnSpc>
                  <a:spcPts val="5599"/>
                </a:lnSpc>
                <a:buFont typeface="Arial"/>
                <a:buChar char="•"/>
              </a:pPr>
              <a:r>
                <a:rPr lang="en-US" b="true" sz="3999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Insight: </a:t>
              </a: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While accuracy was slightly lower than the optimization run within 5 epochs, the model showed more consistent loss reduction, indicating higher robustness for real-world data.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83226" y="301494"/>
              <a:ext cx="1040472" cy="1040472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48C7E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200756"/>
              <a:ext cx="1040472" cy="1040472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8DDC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6272289" y="8061465"/>
            <a:ext cx="2375102" cy="2715383"/>
            <a:chOff x="0" y="0"/>
            <a:chExt cx="3166803" cy="36205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6272289" y="8061465"/>
            <a:ext cx="2375102" cy="2715383"/>
            <a:chOff x="0" y="0"/>
            <a:chExt cx="3166803" cy="3620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22205" y="3416993"/>
            <a:ext cx="15243589" cy="6002163"/>
          </a:xfrm>
          <a:custGeom>
            <a:avLst/>
            <a:gdLst/>
            <a:ahLst/>
            <a:cxnLst/>
            <a:rect r="r" b="b" t="t" l="l"/>
            <a:pathLst>
              <a:path h="6002163" w="15243589">
                <a:moveTo>
                  <a:pt x="0" y="0"/>
                </a:moveTo>
                <a:lnTo>
                  <a:pt x="15243590" y="0"/>
                </a:lnTo>
                <a:lnTo>
                  <a:pt x="15243590" y="6002164"/>
                </a:lnTo>
                <a:lnTo>
                  <a:pt x="0" y="600216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19044" y="607114"/>
            <a:ext cx="11649912" cy="222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Evaluation</a:t>
            </a:r>
          </a:p>
          <a:p>
            <a:pPr algn="ctr">
              <a:lnSpc>
                <a:spcPts val="8960"/>
              </a:lnSpc>
            </a:pPr>
            <a:r>
              <a:rPr lang="en-US" sz="64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Training Loss &amp; Accuracy Curve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6272289" y="8061465"/>
            <a:ext cx="2375102" cy="2715383"/>
            <a:chOff x="0" y="0"/>
            <a:chExt cx="3166803" cy="3620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789570" y="2835315"/>
            <a:ext cx="8708859" cy="7340132"/>
          </a:xfrm>
          <a:custGeom>
            <a:avLst/>
            <a:gdLst/>
            <a:ahLst/>
            <a:cxnLst/>
            <a:rect r="r" b="b" t="t" l="l"/>
            <a:pathLst>
              <a:path h="7340132" w="8708859">
                <a:moveTo>
                  <a:pt x="0" y="0"/>
                </a:moveTo>
                <a:lnTo>
                  <a:pt x="8708860" y="0"/>
                </a:lnTo>
                <a:lnTo>
                  <a:pt x="8708860" y="7340132"/>
                </a:lnTo>
                <a:lnTo>
                  <a:pt x="0" y="734013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19044" y="607114"/>
            <a:ext cx="11649912" cy="222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Evaluation</a:t>
            </a:r>
          </a:p>
          <a:p>
            <a:pPr algn="ctr">
              <a:lnSpc>
                <a:spcPts val="8960"/>
              </a:lnSpc>
            </a:pPr>
            <a:r>
              <a:rPr lang="en-US" sz="64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Confusion Matrix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6272289" y="8061465"/>
            <a:ext cx="2375102" cy="2715383"/>
            <a:chOff x="0" y="0"/>
            <a:chExt cx="3166803" cy="3620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994274" y="3167548"/>
            <a:ext cx="10299452" cy="6656021"/>
          </a:xfrm>
          <a:custGeom>
            <a:avLst/>
            <a:gdLst/>
            <a:ahLst/>
            <a:cxnLst/>
            <a:rect r="r" b="b" t="t" l="l"/>
            <a:pathLst>
              <a:path h="6656021" w="10299452">
                <a:moveTo>
                  <a:pt x="0" y="0"/>
                </a:moveTo>
                <a:lnTo>
                  <a:pt x="10299452" y="0"/>
                </a:lnTo>
                <a:lnTo>
                  <a:pt x="10299452" y="6656021"/>
                </a:lnTo>
                <a:lnTo>
                  <a:pt x="0" y="66560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19044" y="607114"/>
            <a:ext cx="11649912" cy="2228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0"/>
              </a:lnSpc>
            </a:pPr>
            <a:r>
              <a:rPr lang="en-US" sz="64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Evaluation</a:t>
            </a:r>
          </a:p>
          <a:p>
            <a:pPr algn="ctr">
              <a:lnSpc>
                <a:spcPts val="8960"/>
              </a:lnSpc>
            </a:pPr>
            <a:r>
              <a:rPr lang="en-US" sz="64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Per Class Accuracy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01686" y="505508"/>
            <a:ext cx="11649912" cy="209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Conclusion &amp; Best Accuracy &amp; Insights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53446" y="4492865"/>
            <a:ext cx="14375303" cy="3700887"/>
            <a:chOff x="0" y="0"/>
            <a:chExt cx="19167070" cy="493451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9167070" cy="4934516"/>
              <a:chOff x="0" y="0"/>
              <a:chExt cx="3931341" cy="101211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931341" cy="1012114"/>
              </a:xfrm>
              <a:custGeom>
                <a:avLst/>
                <a:gdLst/>
                <a:ahLst/>
                <a:cxnLst/>
                <a:rect r="r" b="b" t="t" l="l"/>
                <a:pathLst>
                  <a:path h="1012114" w="3931341">
                    <a:moveTo>
                      <a:pt x="15618" y="0"/>
                    </a:moveTo>
                    <a:lnTo>
                      <a:pt x="3915723" y="0"/>
                    </a:lnTo>
                    <a:cubicBezTo>
                      <a:pt x="3924348" y="0"/>
                      <a:pt x="3931341" y="6992"/>
                      <a:pt x="3931341" y="15618"/>
                    </a:cubicBezTo>
                    <a:lnTo>
                      <a:pt x="3931341" y="996496"/>
                    </a:lnTo>
                    <a:cubicBezTo>
                      <a:pt x="3931341" y="1000638"/>
                      <a:pt x="3929695" y="1004611"/>
                      <a:pt x="3926767" y="1007540"/>
                    </a:cubicBezTo>
                    <a:cubicBezTo>
                      <a:pt x="3923838" y="1010469"/>
                      <a:pt x="3919865" y="1012114"/>
                      <a:pt x="3915723" y="1012114"/>
                    </a:cubicBezTo>
                    <a:lnTo>
                      <a:pt x="15618" y="1012114"/>
                    </a:lnTo>
                    <a:cubicBezTo>
                      <a:pt x="11476" y="1012114"/>
                      <a:pt x="7503" y="1010469"/>
                      <a:pt x="4574" y="1007540"/>
                    </a:cubicBezTo>
                    <a:cubicBezTo>
                      <a:pt x="1645" y="1004611"/>
                      <a:pt x="0" y="1000638"/>
                      <a:pt x="0" y="996496"/>
                    </a:cubicBezTo>
                    <a:lnTo>
                      <a:pt x="0" y="15618"/>
                    </a:lnTo>
                    <a:cubicBezTo>
                      <a:pt x="0" y="6992"/>
                      <a:pt x="6992" y="0"/>
                      <a:pt x="156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A48C7E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3931341" cy="10597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55871" y="12560"/>
              <a:ext cx="18455329" cy="4861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810"/>
                </a:lnSpc>
              </a:pPr>
              <a:r>
                <a:rPr lang="en-US" sz="3700" b="true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Key Insights:</a:t>
              </a:r>
            </a:p>
            <a:p>
              <a:pPr algn="just" marL="798831" indent="-399416" lvl="1">
                <a:lnSpc>
                  <a:spcPts val="4810"/>
                </a:lnSpc>
                <a:buFont typeface="Arial"/>
                <a:buChar char="•"/>
              </a:pPr>
              <a:r>
                <a:rPr lang="en-US" sz="37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Residual blocks are critical for stable training in CIFAR-10.</a:t>
              </a:r>
            </a:p>
            <a:p>
              <a:pPr algn="l" marL="798831" indent="-399416" lvl="1">
                <a:lnSpc>
                  <a:spcPts val="4810"/>
                </a:lnSpc>
                <a:buFont typeface="Arial"/>
                <a:buChar char="•"/>
              </a:pPr>
              <a:r>
                <a:rPr lang="en-US" b="true" sz="3700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Regular</a:t>
              </a:r>
              <a:r>
                <a:rPr lang="en-US" b="true" sz="3700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ization Path: </a:t>
              </a:r>
              <a:r>
                <a:rPr lang="en-US" sz="37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Effectively controlled overfitting and stabilized the learning process.</a:t>
              </a:r>
            </a:p>
            <a:p>
              <a:pPr algn="just" marL="798831" indent="-399416" lvl="1">
                <a:lnSpc>
                  <a:spcPts val="4810"/>
                </a:lnSpc>
                <a:buFont typeface="Arial"/>
                <a:buChar char="•"/>
              </a:pPr>
              <a:r>
                <a:rPr lang="en-US" b="true" sz="3700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Augmentation Path: </a:t>
              </a:r>
              <a:r>
                <a:rPr lang="en-US" sz="37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Essential for generalization; likely to outperform in longer training runs.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07739" y="8485338"/>
            <a:ext cx="13037806" cy="1406239"/>
            <a:chOff x="0" y="0"/>
            <a:chExt cx="17383741" cy="1874986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7383741" cy="1874986"/>
              <a:chOff x="0" y="0"/>
              <a:chExt cx="3565564" cy="38457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565564" cy="384577"/>
              </a:xfrm>
              <a:custGeom>
                <a:avLst/>
                <a:gdLst/>
                <a:ahLst/>
                <a:cxnLst/>
                <a:rect r="r" b="b" t="t" l="l"/>
                <a:pathLst>
                  <a:path h="384577" w="3565564">
                    <a:moveTo>
                      <a:pt x="17220" y="0"/>
                    </a:moveTo>
                    <a:lnTo>
                      <a:pt x="3548344" y="0"/>
                    </a:lnTo>
                    <a:cubicBezTo>
                      <a:pt x="3552911" y="0"/>
                      <a:pt x="3557291" y="1814"/>
                      <a:pt x="3560520" y="5044"/>
                    </a:cubicBezTo>
                    <a:cubicBezTo>
                      <a:pt x="3563750" y="8273"/>
                      <a:pt x="3565564" y="12653"/>
                      <a:pt x="3565564" y="17220"/>
                    </a:cubicBezTo>
                    <a:lnTo>
                      <a:pt x="3565564" y="367356"/>
                    </a:lnTo>
                    <a:cubicBezTo>
                      <a:pt x="3565564" y="376867"/>
                      <a:pt x="3557854" y="384577"/>
                      <a:pt x="3548344" y="384577"/>
                    </a:cubicBezTo>
                    <a:lnTo>
                      <a:pt x="17220" y="384577"/>
                    </a:lnTo>
                    <a:cubicBezTo>
                      <a:pt x="12653" y="384577"/>
                      <a:pt x="8273" y="382762"/>
                      <a:pt x="5044" y="379533"/>
                    </a:cubicBezTo>
                    <a:cubicBezTo>
                      <a:pt x="1814" y="376304"/>
                      <a:pt x="0" y="371923"/>
                      <a:pt x="0" y="367356"/>
                    </a:cubicBezTo>
                    <a:lnTo>
                      <a:pt x="0" y="17220"/>
                    </a:lnTo>
                    <a:cubicBezTo>
                      <a:pt x="0" y="7710"/>
                      <a:pt x="7710" y="0"/>
                      <a:pt x="172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A48C7E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3565564" cy="4322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22760" y="116875"/>
              <a:ext cx="16738221" cy="1732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99"/>
                </a:lnSpc>
              </a:pPr>
              <a:r>
                <a:rPr lang="en-US" sz="3999" b="true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Class Performance:</a:t>
              </a: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 The model excelled at identifying 'Ship' and 'Automobile' but faced challenges with 'Cat' vs 'Dog' confusion.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385659">
            <a:off x="-348778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8" id="18"/>
          <p:cNvGrpSpPr/>
          <p:nvPr/>
        </p:nvGrpSpPr>
        <p:grpSpPr>
          <a:xfrm rot="0">
            <a:off x="958745" y="3520460"/>
            <a:ext cx="972405" cy="97240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80963" y="3426312"/>
            <a:ext cx="972405" cy="97240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828749" y="6224825"/>
            <a:ext cx="972405" cy="97240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8C7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773097" y="6083773"/>
            <a:ext cx="972405" cy="97240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DC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3122194" y="2791351"/>
            <a:ext cx="13037806" cy="1406239"/>
            <a:chOff x="0" y="0"/>
            <a:chExt cx="17383741" cy="1874986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7383741" cy="1874986"/>
              <a:chOff x="0" y="0"/>
              <a:chExt cx="3565564" cy="38457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565564" cy="384577"/>
              </a:xfrm>
              <a:custGeom>
                <a:avLst/>
                <a:gdLst/>
                <a:ahLst/>
                <a:cxnLst/>
                <a:rect r="r" b="b" t="t" l="l"/>
                <a:pathLst>
                  <a:path h="384577" w="3565564">
                    <a:moveTo>
                      <a:pt x="17220" y="0"/>
                    </a:moveTo>
                    <a:lnTo>
                      <a:pt x="3548344" y="0"/>
                    </a:lnTo>
                    <a:cubicBezTo>
                      <a:pt x="3552911" y="0"/>
                      <a:pt x="3557291" y="1814"/>
                      <a:pt x="3560520" y="5044"/>
                    </a:cubicBezTo>
                    <a:cubicBezTo>
                      <a:pt x="3563750" y="8273"/>
                      <a:pt x="3565564" y="12653"/>
                      <a:pt x="3565564" y="17220"/>
                    </a:cubicBezTo>
                    <a:lnTo>
                      <a:pt x="3565564" y="367356"/>
                    </a:lnTo>
                    <a:cubicBezTo>
                      <a:pt x="3565564" y="376867"/>
                      <a:pt x="3557854" y="384577"/>
                      <a:pt x="3548344" y="384577"/>
                    </a:cubicBezTo>
                    <a:lnTo>
                      <a:pt x="17220" y="384577"/>
                    </a:lnTo>
                    <a:cubicBezTo>
                      <a:pt x="12653" y="384577"/>
                      <a:pt x="8273" y="382762"/>
                      <a:pt x="5044" y="379533"/>
                    </a:cubicBezTo>
                    <a:cubicBezTo>
                      <a:pt x="1814" y="376304"/>
                      <a:pt x="0" y="371923"/>
                      <a:pt x="0" y="367356"/>
                    </a:cubicBezTo>
                    <a:lnTo>
                      <a:pt x="0" y="17220"/>
                    </a:lnTo>
                    <a:cubicBezTo>
                      <a:pt x="0" y="7710"/>
                      <a:pt x="7710" y="0"/>
                      <a:pt x="172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A48C7E"/>
                </a:soli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47625"/>
                <a:ext cx="3565564" cy="4322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663156" y="47435"/>
              <a:ext cx="16057429" cy="1732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99"/>
                </a:lnSpc>
              </a:pPr>
              <a:r>
                <a:rPr lang="en-US" sz="3999" b="true">
                  <a:solidFill>
                    <a:srgbClr val="7B5344"/>
                  </a:solidFill>
                  <a:latin typeface="เอฟซี ฟรายเดย์ Bold"/>
                  <a:ea typeface="เอฟซี ฟรายเดย์ Bold"/>
                  <a:cs typeface="เอฟซี ฟรายเดย์ Bold"/>
                  <a:sym typeface="เอฟซี ฟรายเดย์ Bold"/>
                </a:rPr>
                <a:t>Best Test Accuracy: 62</a:t>
              </a:r>
              <a:r>
                <a:rPr lang="en-US" sz="3999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.00% (Achieved via Data Augmentation path)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347800" y="-2605950"/>
            <a:ext cx="11592399" cy="17661550"/>
          </a:xfrm>
          <a:custGeom>
            <a:avLst/>
            <a:gdLst/>
            <a:ahLst/>
            <a:cxnLst/>
            <a:rect r="r" b="b" t="t" l="l"/>
            <a:pathLst>
              <a:path h="17661550" w="11592399">
                <a:moveTo>
                  <a:pt x="0" y="0"/>
                </a:moveTo>
                <a:lnTo>
                  <a:pt x="11592400" y="0"/>
                </a:lnTo>
                <a:lnTo>
                  <a:pt x="11592400" y="17661549"/>
                </a:lnTo>
                <a:lnTo>
                  <a:pt x="0" y="17661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18935">
            <a:off x="-93280" y="162820"/>
            <a:ext cx="1632129" cy="2301720"/>
          </a:xfrm>
          <a:custGeom>
            <a:avLst/>
            <a:gdLst/>
            <a:ahLst/>
            <a:cxnLst/>
            <a:rect r="r" b="b" t="t" l="l"/>
            <a:pathLst>
              <a:path h="2301720" w="1632129">
                <a:moveTo>
                  <a:pt x="0" y="0"/>
                </a:moveTo>
                <a:lnTo>
                  <a:pt x="1632129" y="0"/>
                </a:lnTo>
                <a:lnTo>
                  <a:pt x="1632129" y="2301720"/>
                </a:lnTo>
                <a:lnTo>
                  <a:pt x="0" y="2301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318935">
            <a:off x="-52794" y="245062"/>
            <a:ext cx="1537093" cy="2167695"/>
          </a:xfrm>
          <a:custGeom>
            <a:avLst/>
            <a:gdLst/>
            <a:ahLst/>
            <a:cxnLst/>
            <a:rect r="r" b="b" t="t" l="l"/>
            <a:pathLst>
              <a:path h="2167695" w="1537093">
                <a:moveTo>
                  <a:pt x="0" y="0"/>
                </a:moveTo>
                <a:lnTo>
                  <a:pt x="1537093" y="0"/>
                </a:lnTo>
                <a:lnTo>
                  <a:pt x="1537093" y="2167695"/>
                </a:lnTo>
                <a:lnTo>
                  <a:pt x="0" y="21676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385659">
            <a:off x="-517286" y="81233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8" y="0"/>
                </a:lnTo>
                <a:lnTo>
                  <a:pt x="3506798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385659">
            <a:off x="-862106" y="82324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3319044" y="115888"/>
            <a:ext cx="11649912" cy="163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DBCBBB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Contributions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98946" y="1781119"/>
            <a:ext cx="6628454" cy="3362381"/>
            <a:chOff x="0" y="0"/>
            <a:chExt cx="8837939" cy="448317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874637"/>
              <a:ext cx="8837939" cy="3608539"/>
              <a:chOff x="0" y="0"/>
              <a:chExt cx="1812742" cy="74014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812742" cy="740144"/>
              </a:xfrm>
              <a:custGeom>
                <a:avLst/>
                <a:gdLst/>
                <a:ahLst/>
                <a:cxnLst/>
                <a:rect r="r" b="b" t="t" l="l"/>
                <a:pathLst>
                  <a:path h="740144" w="1812742">
                    <a:moveTo>
                      <a:pt x="33872" y="0"/>
                    </a:moveTo>
                    <a:lnTo>
                      <a:pt x="1778870" y="0"/>
                    </a:lnTo>
                    <a:cubicBezTo>
                      <a:pt x="1797577" y="0"/>
                      <a:pt x="1812742" y="15165"/>
                      <a:pt x="1812742" y="33872"/>
                    </a:cubicBezTo>
                    <a:lnTo>
                      <a:pt x="1812742" y="706273"/>
                    </a:lnTo>
                    <a:cubicBezTo>
                      <a:pt x="1812742" y="715256"/>
                      <a:pt x="1809173" y="723871"/>
                      <a:pt x="1802821" y="730223"/>
                    </a:cubicBezTo>
                    <a:cubicBezTo>
                      <a:pt x="1796469" y="736576"/>
                      <a:pt x="1787854" y="740144"/>
                      <a:pt x="1778870" y="740144"/>
                    </a:cubicBezTo>
                    <a:lnTo>
                      <a:pt x="33872" y="740144"/>
                    </a:lnTo>
                    <a:cubicBezTo>
                      <a:pt x="24888" y="740144"/>
                      <a:pt x="16273" y="736576"/>
                      <a:pt x="9921" y="730223"/>
                    </a:cubicBezTo>
                    <a:cubicBezTo>
                      <a:pt x="3569" y="723871"/>
                      <a:pt x="0" y="715256"/>
                      <a:pt x="0" y="706273"/>
                    </a:cubicBezTo>
                    <a:lnTo>
                      <a:pt x="0" y="33872"/>
                    </a:lnTo>
                    <a:cubicBezTo>
                      <a:pt x="0" y="24888"/>
                      <a:pt x="3569" y="16273"/>
                      <a:pt x="9921" y="9921"/>
                    </a:cubicBezTo>
                    <a:cubicBezTo>
                      <a:pt x="16273" y="3569"/>
                      <a:pt x="24888" y="0"/>
                      <a:pt x="338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A48C7E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812742" cy="7877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096199" y="1417204"/>
              <a:ext cx="6918952" cy="2779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600"/>
                </a:lnSpc>
              </a:pPr>
              <a:r>
                <a:rPr lang="en-US" sz="40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Model Architecture design</a:t>
              </a:r>
            </a:p>
            <a:p>
              <a:pPr algn="just">
                <a:lnSpc>
                  <a:spcPts val="5600"/>
                </a:lnSpc>
              </a:pPr>
              <a:r>
                <a:rPr lang="en-US" sz="40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PPT </a:t>
              </a:r>
            </a:p>
            <a:p>
              <a:pPr algn="just">
                <a:lnSpc>
                  <a:spcPts val="5600"/>
                </a:lnSpc>
              </a:pPr>
              <a:r>
                <a:rPr lang="en-US" sz="40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Report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1016045" y="125531"/>
              <a:ext cx="6999106" cy="1296540"/>
              <a:chOff x="0" y="0"/>
              <a:chExt cx="4387733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38773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387733">
                    <a:moveTo>
                      <a:pt x="2193866" y="0"/>
                    </a:moveTo>
                    <a:cubicBezTo>
                      <a:pt x="982227" y="0"/>
                      <a:pt x="0" y="181951"/>
                      <a:pt x="0" y="406400"/>
                    </a:cubicBezTo>
                    <a:cubicBezTo>
                      <a:pt x="0" y="630849"/>
                      <a:pt x="982227" y="812800"/>
                      <a:pt x="2193866" y="812800"/>
                    </a:cubicBezTo>
                    <a:cubicBezTo>
                      <a:pt x="3405505" y="812800"/>
                      <a:pt x="4387733" y="630849"/>
                      <a:pt x="4387733" y="406400"/>
                    </a:cubicBezTo>
                    <a:cubicBezTo>
                      <a:pt x="4387733" y="181951"/>
                      <a:pt x="3405505" y="0"/>
                      <a:pt x="2193866" y="0"/>
                    </a:cubicBezTo>
                    <a:close/>
                  </a:path>
                </a:pathLst>
              </a:custGeom>
              <a:solidFill>
                <a:srgbClr val="A48C7E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411350" y="28575"/>
                <a:ext cx="3565033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912336" y="0"/>
              <a:ext cx="6821638" cy="1296540"/>
              <a:chOff x="0" y="0"/>
              <a:chExt cx="4276478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27647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276479">
                    <a:moveTo>
                      <a:pt x="2138239" y="0"/>
                    </a:moveTo>
                    <a:cubicBezTo>
                      <a:pt x="957322" y="0"/>
                      <a:pt x="0" y="181951"/>
                      <a:pt x="0" y="406400"/>
                    </a:cubicBezTo>
                    <a:cubicBezTo>
                      <a:pt x="0" y="630849"/>
                      <a:pt x="957322" y="812800"/>
                      <a:pt x="2138239" y="812800"/>
                    </a:cubicBezTo>
                    <a:cubicBezTo>
                      <a:pt x="3319156" y="812800"/>
                      <a:pt x="4276479" y="630849"/>
                      <a:pt x="4276479" y="406400"/>
                    </a:cubicBezTo>
                    <a:cubicBezTo>
                      <a:pt x="4276479" y="181951"/>
                      <a:pt x="3319156" y="0"/>
                      <a:pt x="2138239" y="0"/>
                    </a:cubicBezTo>
                    <a:close/>
                  </a:path>
                </a:pathLst>
              </a:custGeom>
              <a:solidFill>
                <a:srgbClr val="E8DDCD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400920" y="28575"/>
                <a:ext cx="3474639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97930" y="-38561"/>
              <a:ext cx="6650450" cy="1107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เอฟซี แคนดี้"/>
                  <a:ea typeface="เอฟซี แคนดี้"/>
                  <a:cs typeface="เอฟซี แคนดี้"/>
                  <a:sym typeface="เอฟซี แคนดี้"/>
                </a:rPr>
                <a:t>Tooba Batool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127400" y="7934216"/>
            <a:ext cx="2375102" cy="2715383"/>
            <a:chOff x="0" y="0"/>
            <a:chExt cx="3166803" cy="3620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66803" cy="3620510"/>
            </a:xfrm>
            <a:custGeom>
              <a:avLst/>
              <a:gdLst/>
              <a:ahLst/>
              <a:cxnLst/>
              <a:rect r="r" b="b" t="t" l="l"/>
              <a:pathLst>
                <a:path h="3620510" w="3166803">
                  <a:moveTo>
                    <a:pt x="0" y="0"/>
                  </a:moveTo>
                  <a:lnTo>
                    <a:pt x="3166803" y="0"/>
                  </a:lnTo>
                  <a:lnTo>
                    <a:pt x="3166803" y="3620510"/>
                  </a:lnTo>
                  <a:lnTo>
                    <a:pt x="0" y="3620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1261" y="104336"/>
              <a:ext cx="2984281" cy="3411838"/>
            </a:xfrm>
            <a:custGeom>
              <a:avLst/>
              <a:gdLst/>
              <a:ahLst/>
              <a:cxnLst/>
              <a:rect r="r" b="b" t="t" l="l"/>
              <a:pathLst>
                <a:path h="3411838" w="2984281">
                  <a:moveTo>
                    <a:pt x="0" y="0"/>
                  </a:moveTo>
                  <a:lnTo>
                    <a:pt x="2984281" y="0"/>
                  </a:lnTo>
                  <a:lnTo>
                    <a:pt x="2984281" y="3411838"/>
                  </a:lnTo>
                  <a:lnTo>
                    <a:pt x="0" y="3411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295044" y="5172075"/>
            <a:ext cx="7036258" cy="3784353"/>
            <a:chOff x="0" y="0"/>
            <a:chExt cx="9381677" cy="504580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996136"/>
              <a:ext cx="9381677" cy="4049668"/>
              <a:chOff x="0" y="0"/>
              <a:chExt cx="1924268" cy="83062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924268" cy="830624"/>
              </a:xfrm>
              <a:custGeom>
                <a:avLst/>
                <a:gdLst/>
                <a:ahLst/>
                <a:cxnLst/>
                <a:rect r="r" b="b" t="t" l="l"/>
                <a:pathLst>
                  <a:path h="830624" w="1924268">
                    <a:moveTo>
                      <a:pt x="31908" y="0"/>
                    </a:moveTo>
                    <a:lnTo>
                      <a:pt x="1892359" y="0"/>
                    </a:lnTo>
                    <a:cubicBezTo>
                      <a:pt x="1900822" y="0"/>
                      <a:pt x="1908938" y="3362"/>
                      <a:pt x="1914922" y="9346"/>
                    </a:cubicBezTo>
                    <a:cubicBezTo>
                      <a:pt x="1920906" y="15330"/>
                      <a:pt x="1924268" y="23446"/>
                      <a:pt x="1924268" y="31908"/>
                    </a:cubicBezTo>
                    <a:lnTo>
                      <a:pt x="1924268" y="798715"/>
                    </a:lnTo>
                    <a:cubicBezTo>
                      <a:pt x="1924268" y="816338"/>
                      <a:pt x="1909982" y="830624"/>
                      <a:pt x="1892359" y="830624"/>
                    </a:cubicBezTo>
                    <a:lnTo>
                      <a:pt x="31908" y="830624"/>
                    </a:lnTo>
                    <a:cubicBezTo>
                      <a:pt x="23446" y="830624"/>
                      <a:pt x="15330" y="827262"/>
                      <a:pt x="9346" y="821278"/>
                    </a:cubicBezTo>
                    <a:cubicBezTo>
                      <a:pt x="3362" y="815294"/>
                      <a:pt x="0" y="807178"/>
                      <a:pt x="0" y="798715"/>
                    </a:cubicBezTo>
                    <a:lnTo>
                      <a:pt x="0" y="31908"/>
                    </a:lnTo>
                    <a:cubicBezTo>
                      <a:pt x="0" y="23446"/>
                      <a:pt x="3362" y="15330"/>
                      <a:pt x="9346" y="9346"/>
                    </a:cubicBezTo>
                    <a:cubicBezTo>
                      <a:pt x="15330" y="3362"/>
                      <a:pt x="23446" y="0"/>
                      <a:pt x="319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A48C7E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1924268" cy="8782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30156" y="1271290"/>
              <a:ext cx="9051521" cy="371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40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Final evaluation pipeline, including Training Curves, Confusion Matrix, and Per-class accuracy visualization.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1243140" y="125531"/>
              <a:ext cx="6999106" cy="1296540"/>
              <a:chOff x="0" y="0"/>
              <a:chExt cx="4387733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38773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387733">
                    <a:moveTo>
                      <a:pt x="2193866" y="0"/>
                    </a:moveTo>
                    <a:cubicBezTo>
                      <a:pt x="982227" y="0"/>
                      <a:pt x="0" y="181951"/>
                      <a:pt x="0" y="406400"/>
                    </a:cubicBezTo>
                    <a:cubicBezTo>
                      <a:pt x="0" y="630849"/>
                      <a:pt x="982227" y="812800"/>
                      <a:pt x="2193866" y="812800"/>
                    </a:cubicBezTo>
                    <a:cubicBezTo>
                      <a:pt x="3405505" y="812800"/>
                      <a:pt x="4387733" y="630849"/>
                      <a:pt x="4387733" y="406400"/>
                    </a:cubicBezTo>
                    <a:cubicBezTo>
                      <a:pt x="4387733" y="181951"/>
                      <a:pt x="3405505" y="0"/>
                      <a:pt x="2193866" y="0"/>
                    </a:cubicBezTo>
                    <a:close/>
                  </a:path>
                </a:pathLst>
              </a:custGeom>
              <a:solidFill>
                <a:srgbClr val="A48C7E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411350" y="28575"/>
                <a:ext cx="3565033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39432" y="0"/>
              <a:ext cx="6821638" cy="1296540"/>
              <a:chOff x="0" y="0"/>
              <a:chExt cx="4276478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27647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276479">
                    <a:moveTo>
                      <a:pt x="2138239" y="0"/>
                    </a:moveTo>
                    <a:cubicBezTo>
                      <a:pt x="957322" y="0"/>
                      <a:pt x="0" y="181951"/>
                      <a:pt x="0" y="406400"/>
                    </a:cubicBezTo>
                    <a:cubicBezTo>
                      <a:pt x="0" y="630849"/>
                      <a:pt x="957322" y="812800"/>
                      <a:pt x="2138239" y="812800"/>
                    </a:cubicBezTo>
                    <a:cubicBezTo>
                      <a:pt x="3319156" y="812800"/>
                      <a:pt x="4276479" y="630849"/>
                      <a:pt x="4276479" y="406400"/>
                    </a:cubicBezTo>
                    <a:cubicBezTo>
                      <a:pt x="4276479" y="181951"/>
                      <a:pt x="3319156" y="0"/>
                      <a:pt x="2138239" y="0"/>
                    </a:cubicBezTo>
                    <a:close/>
                  </a:path>
                </a:pathLst>
              </a:custGeom>
              <a:solidFill>
                <a:srgbClr val="E8DDCD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400920" y="28575"/>
                <a:ext cx="3474639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225025" y="-38561"/>
              <a:ext cx="6650450" cy="1107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เอฟซี แคนดี้"/>
                  <a:ea typeface="เอฟซี แคนดี้"/>
                  <a:cs typeface="เอฟซี แคนดี้"/>
                  <a:sym typeface="เอฟซี แคนดี้"/>
                </a:rPr>
                <a:t>Umar Younas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90723" y="1940237"/>
            <a:ext cx="7274792" cy="5804755"/>
            <a:chOff x="0" y="0"/>
            <a:chExt cx="9699722" cy="7739674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1037552"/>
              <a:ext cx="9699722" cy="6702122"/>
              <a:chOff x="0" y="0"/>
              <a:chExt cx="1989502" cy="137466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89502" cy="1374666"/>
              </a:xfrm>
              <a:custGeom>
                <a:avLst/>
                <a:gdLst/>
                <a:ahLst/>
                <a:cxnLst/>
                <a:rect r="r" b="b" t="t" l="l"/>
                <a:pathLst>
                  <a:path h="1374666" w="1989502">
                    <a:moveTo>
                      <a:pt x="30862" y="0"/>
                    </a:moveTo>
                    <a:lnTo>
                      <a:pt x="1958640" y="0"/>
                    </a:lnTo>
                    <a:cubicBezTo>
                      <a:pt x="1975684" y="0"/>
                      <a:pt x="1989502" y="13817"/>
                      <a:pt x="1989502" y="30862"/>
                    </a:cubicBezTo>
                    <a:lnTo>
                      <a:pt x="1989502" y="1343804"/>
                    </a:lnTo>
                    <a:cubicBezTo>
                      <a:pt x="1989502" y="1351989"/>
                      <a:pt x="1986250" y="1359839"/>
                      <a:pt x="1980462" y="1365627"/>
                    </a:cubicBezTo>
                    <a:cubicBezTo>
                      <a:pt x="1974675" y="1371415"/>
                      <a:pt x="1966825" y="1374666"/>
                      <a:pt x="1958640" y="1374666"/>
                    </a:cubicBezTo>
                    <a:lnTo>
                      <a:pt x="30862" y="1374666"/>
                    </a:lnTo>
                    <a:cubicBezTo>
                      <a:pt x="22677" y="1374666"/>
                      <a:pt x="14827" y="1371415"/>
                      <a:pt x="9039" y="1365627"/>
                    </a:cubicBezTo>
                    <a:cubicBezTo>
                      <a:pt x="3252" y="1359839"/>
                      <a:pt x="0" y="1351989"/>
                      <a:pt x="0" y="1343804"/>
                    </a:cubicBezTo>
                    <a:lnTo>
                      <a:pt x="0" y="30862"/>
                    </a:lnTo>
                    <a:cubicBezTo>
                      <a:pt x="0" y="22677"/>
                      <a:pt x="3252" y="14827"/>
                      <a:pt x="9039" y="9039"/>
                    </a:cubicBezTo>
                    <a:cubicBezTo>
                      <a:pt x="14827" y="3252"/>
                      <a:pt x="22677" y="0"/>
                      <a:pt x="308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A48C7E"/>
                </a:solidFill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1989502" cy="14222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96085" y="1541696"/>
              <a:ext cx="9051521" cy="55985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63601" indent="-431801" lvl="1">
                <a:lnSpc>
                  <a:spcPts val="5600"/>
                </a:lnSpc>
                <a:buFont typeface="Arial"/>
                <a:buChar char="•"/>
              </a:pPr>
              <a:r>
                <a:rPr lang="en-US" sz="40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ResNet implementation.</a:t>
              </a:r>
            </a:p>
            <a:p>
              <a:pPr algn="l" marL="863601" indent="-431801" lvl="1">
                <a:lnSpc>
                  <a:spcPts val="5600"/>
                </a:lnSpc>
                <a:buFont typeface="Arial"/>
                <a:buChar char="•"/>
              </a:pPr>
              <a:r>
                <a:rPr lang="en-US" sz="40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Regular</a:t>
              </a:r>
              <a:r>
                <a:rPr lang="en-US" sz="40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ization path development (Dropout &amp; Weight Decay integration).</a:t>
              </a:r>
            </a:p>
            <a:p>
              <a:pPr algn="l" marL="863601" indent="-431801" lvl="1">
                <a:lnSpc>
                  <a:spcPts val="5600"/>
                </a:lnSpc>
                <a:buFont typeface="Arial"/>
                <a:buChar char="•"/>
              </a:pPr>
              <a:r>
                <a:rPr lang="en-US" sz="4000">
                  <a:solidFill>
                    <a:srgbClr val="7B5344"/>
                  </a:solidFill>
                  <a:latin typeface="เอฟซี ฟรายเดย์"/>
                  <a:ea typeface="เอฟซี ฟรายเดย์"/>
                  <a:cs typeface="เอฟซี ฟรายเดย์"/>
                  <a:sym typeface="เอฟซี ฟรายเดย์"/>
                </a:rPr>
                <a:t>Data Augmentation logic and Regularization experiments.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1587800" y="125531"/>
              <a:ext cx="6999106" cy="1296540"/>
              <a:chOff x="0" y="0"/>
              <a:chExt cx="4387733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38773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387733">
                    <a:moveTo>
                      <a:pt x="2193866" y="0"/>
                    </a:moveTo>
                    <a:cubicBezTo>
                      <a:pt x="982227" y="0"/>
                      <a:pt x="0" y="181951"/>
                      <a:pt x="0" y="406400"/>
                    </a:cubicBezTo>
                    <a:cubicBezTo>
                      <a:pt x="0" y="630849"/>
                      <a:pt x="982227" y="812800"/>
                      <a:pt x="2193866" y="812800"/>
                    </a:cubicBezTo>
                    <a:cubicBezTo>
                      <a:pt x="3405505" y="812800"/>
                      <a:pt x="4387733" y="630849"/>
                      <a:pt x="4387733" y="406400"/>
                    </a:cubicBezTo>
                    <a:cubicBezTo>
                      <a:pt x="4387733" y="181951"/>
                      <a:pt x="3405505" y="0"/>
                      <a:pt x="2193866" y="0"/>
                    </a:cubicBezTo>
                    <a:close/>
                  </a:path>
                </a:pathLst>
              </a:custGeom>
              <a:solidFill>
                <a:srgbClr val="A48C7E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411350" y="28575"/>
                <a:ext cx="3565033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484091" y="0"/>
              <a:ext cx="6821638" cy="1296540"/>
              <a:chOff x="0" y="0"/>
              <a:chExt cx="4276478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276479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276479">
                    <a:moveTo>
                      <a:pt x="2138239" y="0"/>
                    </a:moveTo>
                    <a:cubicBezTo>
                      <a:pt x="957322" y="0"/>
                      <a:pt x="0" y="181951"/>
                      <a:pt x="0" y="406400"/>
                    </a:cubicBezTo>
                    <a:cubicBezTo>
                      <a:pt x="0" y="630849"/>
                      <a:pt x="957322" y="812800"/>
                      <a:pt x="2138239" y="812800"/>
                    </a:cubicBezTo>
                    <a:cubicBezTo>
                      <a:pt x="3319156" y="812800"/>
                      <a:pt x="4276479" y="630849"/>
                      <a:pt x="4276479" y="406400"/>
                    </a:cubicBezTo>
                    <a:cubicBezTo>
                      <a:pt x="4276479" y="181951"/>
                      <a:pt x="3319156" y="0"/>
                      <a:pt x="2138239" y="0"/>
                    </a:cubicBezTo>
                    <a:close/>
                  </a:path>
                </a:pathLst>
              </a:custGeom>
              <a:solidFill>
                <a:srgbClr val="E8DDCD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400920" y="28575"/>
                <a:ext cx="3474639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1569685" y="-38561"/>
              <a:ext cx="6650450" cy="11070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FFFFFF"/>
                  </a:solidFill>
                  <a:latin typeface="เอฟซี แคนดี้"/>
                  <a:ea typeface="เอฟซี แคนดี้"/>
                  <a:cs typeface="เอฟซี แคนดี้"/>
                  <a:sym typeface="เอฟซี แคนดี้"/>
                </a:rPr>
                <a:t>Manal Rana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672286" y="-5894890"/>
            <a:ext cx="12943428" cy="19719904"/>
          </a:xfrm>
          <a:custGeom>
            <a:avLst/>
            <a:gdLst/>
            <a:ahLst/>
            <a:cxnLst/>
            <a:rect r="r" b="b" t="t" l="l"/>
            <a:pathLst>
              <a:path h="19719904" w="12943428">
                <a:moveTo>
                  <a:pt x="0" y="0"/>
                </a:moveTo>
                <a:lnTo>
                  <a:pt x="12943428" y="0"/>
                </a:lnTo>
                <a:lnTo>
                  <a:pt x="12943428" y="19719904"/>
                </a:lnTo>
                <a:lnTo>
                  <a:pt x="0" y="19719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60826" y="2329400"/>
            <a:ext cx="13166347" cy="6431503"/>
            <a:chOff x="0" y="0"/>
            <a:chExt cx="3467680" cy="16938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67680" cy="1693894"/>
            </a:xfrm>
            <a:custGeom>
              <a:avLst/>
              <a:gdLst/>
              <a:ahLst/>
              <a:cxnLst/>
              <a:rect r="r" b="b" t="t" l="l"/>
              <a:pathLst>
                <a:path h="1693894" w="3467680">
                  <a:moveTo>
                    <a:pt x="0" y="0"/>
                  </a:moveTo>
                  <a:lnTo>
                    <a:pt x="3467680" y="0"/>
                  </a:lnTo>
                  <a:lnTo>
                    <a:pt x="3467680" y="1693894"/>
                  </a:lnTo>
                  <a:lnTo>
                    <a:pt x="0" y="16938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467680" cy="1741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803284">
            <a:off x="15751225" y="7951694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581405">
            <a:off x="15536892" y="-1615299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743200" y="1675430"/>
            <a:ext cx="12801600" cy="6936140"/>
          </a:xfrm>
          <a:custGeom>
            <a:avLst/>
            <a:gdLst/>
            <a:ahLst/>
            <a:cxnLst/>
            <a:rect r="r" b="b" t="t" l="l"/>
            <a:pathLst>
              <a:path h="6936140" w="12801600">
                <a:moveTo>
                  <a:pt x="0" y="0"/>
                </a:moveTo>
                <a:lnTo>
                  <a:pt x="12801600" y="0"/>
                </a:lnTo>
                <a:lnTo>
                  <a:pt x="12801600" y="6936140"/>
                </a:lnTo>
                <a:lnTo>
                  <a:pt x="0" y="69361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35644">
            <a:off x="1568776" y="1724388"/>
            <a:ext cx="2620098" cy="1267175"/>
          </a:xfrm>
          <a:custGeom>
            <a:avLst/>
            <a:gdLst/>
            <a:ahLst/>
            <a:cxnLst/>
            <a:rect r="r" b="b" t="t" l="l"/>
            <a:pathLst>
              <a:path h="1267175" w="2620098">
                <a:moveTo>
                  <a:pt x="0" y="0"/>
                </a:moveTo>
                <a:lnTo>
                  <a:pt x="2620098" y="0"/>
                </a:lnTo>
                <a:lnTo>
                  <a:pt x="2620098" y="1267175"/>
                </a:lnTo>
                <a:lnTo>
                  <a:pt x="0" y="12671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1135644">
            <a:off x="1699728" y="1787721"/>
            <a:ext cx="2358195" cy="1140509"/>
          </a:xfrm>
          <a:custGeom>
            <a:avLst/>
            <a:gdLst/>
            <a:ahLst/>
            <a:cxnLst/>
            <a:rect r="r" b="b" t="t" l="l"/>
            <a:pathLst>
              <a:path h="1140509" w="2358195">
                <a:moveTo>
                  <a:pt x="0" y="0"/>
                </a:moveTo>
                <a:lnTo>
                  <a:pt x="2358195" y="0"/>
                </a:lnTo>
                <a:lnTo>
                  <a:pt x="2358195" y="1140509"/>
                </a:lnTo>
                <a:lnTo>
                  <a:pt x="0" y="11405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85659">
            <a:off x="2064861" y="7094673"/>
            <a:ext cx="3506797" cy="2269854"/>
          </a:xfrm>
          <a:custGeom>
            <a:avLst/>
            <a:gdLst/>
            <a:ahLst/>
            <a:cxnLst/>
            <a:rect r="r" b="b" t="t" l="l"/>
            <a:pathLst>
              <a:path h="2269854" w="3506797">
                <a:moveTo>
                  <a:pt x="0" y="0"/>
                </a:moveTo>
                <a:lnTo>
                  <a:pt x="3506797" y="0"/>
                </a:lnTo>
                <a:lnTo>
                  <a:pt x="3506797" y="2269854"/>
                </a:lnTo>
                <a:lnTo>
                  <a:pt x="0" y="22698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385659">
            <a:off x="2233368" y="7203743"/>
            <a:ext cx="3169782" cy="2051713"/>
          </a:xfrm>
          <a:custGeom>
            <a:avLst/>
            <a:gdLst/>
            <a:ahLst/>
            <a:cxnLst/>
            <a:rect r="r" b="b" t="t" l="l"/>
            <a:pathLst>
              <a:path h="2051713" w="3169782">
                <a:moveTo>
                  <a:pt x="0" y="0"/>
                </a:moveTo>
                <a:lnTo>
                  <a:pt x="3169782" y="0"/>
                </a:lnTo>
                <a:lnTo>
                  <a:pt x="3169782" y="2051714"/>
                </a:lnTo>
                <a:lnTo>
                  <a:pt x="0" y="20517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-571104">
            <a:off x="13291806" y="1185241"/>
            <a:ext cx="2877205" cy="2055894"/>
          </a:xfrm>
          <a:custGeom>
            <a:avLst/>
            <a:gdLst/>
            <a:ahLst/>
            <a:cxnLst/>
            <a:rect r="r" b="b" t="t" l="l"/>
            <a:pathLst>
              <a:path h="2055894" w="2877205">
                <a:moveTo>
                  <a:pt x="0" y="0"/>
                </a:moveTo>
                <a:lnTo>
                  <a:pt x="2877205" y="0"/>
                </a:lnTo>
                <a:lnTo>
                  <a:pt x="2877205" y="2055894"/>
                </a:lnTo>
                <a:lnTo>
                  <a:pt x="0" y="20558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71104">
            <a:off x="13417599" y="1275126"/>
            <a:ext cx="2625618" cy="1876124"/>
          </a:xfrm>
          <a:custGeom>
            <a:avLst/>
            <a:gdLst/>
            <a:ahLst/>
            <a:cxnLst/>
            <a:rect r="r" b="b" t="t" l="l"/>
            <a:pathLst>
              <a:path h="1876124" w="2625618">
                <a:moveTo>
                  <a:pt x="0" y="0"/>
                </a:moveTo>
                <a:lnTo>
                  <a:pt x="2625619" y="0"/>
                </a:lnTo>
                <a:lnTo>
                  <a:pt x="2625619" y="1876124"/>
                </a:lnTo>
                <a:lnTo>
                  <a:pt x="0" y="187612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77994" y="3096076"/>
            <a:ext cx="10932011" cy="353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0"/>
              </a:lnSpc>
            </a:pPr>
            <a:r>
              <a:rPr lang="en-US" sz="15000">
                <a:solidFill>
                  <a:srgbClr val="D8CDA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Thank</a:t>
            </a:r>
          </a:p>
          <a:p>
            <a:pPr algn="ctr">
              <a:lnSpc>
                <a:spcPts val="13350"/>
              </a:lnSpc>
            </a:pPr>
            <a:r>
              <a:rPr lang="en-US" sz="15000">
                <a:solidFill>
                  <a:srgbClr val="D8CDAF"/>
                </a:solidFill>
                <a:latin typeface="เอฟซี แคนดี้"/>
                <a:ea typeface="เอฟซี แคนดี้"/>
                <a:cs typeface="เอฟซี แคนดี้"/>
                <a:sym typeface="เอฟซี แคนดี้"/>
              </a:rPr>
              <a:t>You!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394153">
            <a:off x="6472121" y="1533763"/>
            <a:ext cx="4605039" cy="854025"/>
          </a:xfrm>
          <a:custGeom>
            <a:avLst/>
            <a:gdLst/>
            <a:ahLst/>
            <a:cxnLst/>
            <a:rect r="r" b="b" t="t" l="l"/>
            <a:pathLst>
              <a:path h="854025" w="4605039">
                <a:moveTo>
                  <a:pt x="0" y="0"/>
                </a:moveTo>
                <a:lnTo>
                  <a:pt x="4605039" y="0"/>
                </a:lnTo>
                <a:lnTo>
                  <a:pt x="4605039" y="854025"/>
                </a:lnTo>
                <a:lnTo>
                  <a:pt x="0" y="8540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8996715">
            <a:off x="-1818602" y="-1615299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218594">
            <a:off x="-1818602" y="7951694"/>
            <a:ext cx="4565737" cy="4114800"/>
          </a:xfrm>
          <a:custGeom>
            <a:avLst/>
            <a:gdLst/>
            <a:ahLst/>
            <a:cxnLst/>
            <a:rect r="r" b="b" t="t" l="l"/>
            <a:pathLst>
              <a:path h="4114800" w="4565737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924916" y="6902317"/>
            <a:ext cx="2263799" cy="2588134"/>
          </a:xfrm>
          <a:custGeom>
            <a:avLst/>
            <a:gdLst/>
            <a:ahLst/>
            <a:cxnLst/>
            <a:rect r="r" b="b" t="t" l="l"/>
            <a:pathLst>
              <a:path h="2588134" w="2263799">
                <a:moveTo>
                  <a:pt x="0" y="0"/>
                </a:moveTo>
                <a:lnTo>
                  <a:pt x="2263799" y="0"/>
                </a:lnTo>
                <a:lnTo>
                  <a:pt x="2263799" y="2588133"/>
                </a:lnTo>
                <a:lnTo>
                  <a:pt x="0" y="258813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3990154" y="6976902"/>
            <a:ext cx="2133323" cy="2438964"/>
          </a:xfrm>
          <a:custGeom>
            <a:avLst/>
            <a:gdLst/>
            <a:ahLst/>
            <a:cxnLst/>
            <a:rect r="r" b="b" t="t" l="l"/>
            <a:pathLst>
              <a:path h="2438964" w="2133323">
                <a:moveTo>
                  <a:pt x="0" y="0"/>
                </a:moveTo>
                <a:lnTo>
                  <a:pt x="2133323" y="0"/>
                </a:lnTo>
                <a:lnTo>
                  <a:pt x="2133323" y="2438963"/>
                </a:lnTo>
                <a:lnTo>
                  <a:pt x="0" y="243896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DAG9BsshS04</dc:identifier>
  <dcterms:modified xsi:type="dcterms:W3CDTF">2011-08-01T06:04:30Z</dcterms:modified>
  <cp:revision>1</cp:revision>
  <dc:title>Optimizing CIFAR-10 Classification: Residual Networks, Data Augmentation, and Scheduled Learning</dc:title>
</cp:coreProperties>
</file>